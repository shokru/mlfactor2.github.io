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Convergence of the miniature feature-selection GA. The best composite IC climbs from about 0.041 to 0.047 within roughly nine generations and then plateaus, while the average population IC rises more gradually and noisily, illustrating t...</a:t>
            </a:r>
          </a:p>
        </p:txBody>
      </p:sp>
      <p:pic>
        <p:nvPicPr>
          <p:cNvPr id="4" name="Picture 3" descr="fig_19_1_mini_ga.png"/>
          <p:cNvPicPr>
            <a:picLocks noChangeAspect="1"/>
          </p:cNvPicPr>
          <p:nvPr/>
        </p:nvPicPr>
        <p:blipFill>
          <a:blip r:embed="rId2"/>
          <a:stretch>
            <a:fillRect/>
          </a:stretch>
        </p:blipFill>
        <p:spPr>
          <a:xfrm>
            <a:off x="1798167" y="1463040"/>
            <a:ext cx="8595360"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ga_mini_toy.py  |  PNG file: fig_19_1_mini_ga.png  (matplotlib plot - edit the script/code and rerun to change the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11.2</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Selection frequency for 20 individuals (sorted by increasing fitness) under three selection operators. Roulette wheel selection is proportional to absolute fitness, tournament selection concentrates more sharply on the fittest individual...</a:t>
            </a:r>
          </a:p>
        </p:txBody>
      </p:sp>
      <p:pic>
        <p:nvPicPr>
          <p:cNvPr id="4" name="Picture 3" descr="fig_19_2_selection.png"/>
          <p:cNvPicPr>
            <a:picLocks noChangeAspect="1"/>
          </p:cNvPicPr>
          <p:nvPr/>
        </p:nvPicPr>
        <p:blipFill>
          <a:blip r:embed="rId2"/>
          <a:stretch>
            <a:fillRect/>
          </a:stretch>
        </p:blipFill>
        <p:spPr>
          <a:xfrm>
            <a:off x="838047" y="1463040"/>
            <a:ext cx="10515600" cy="2942721"/>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Chapter_11_Draft.md, section 11.3.7 code  |  PNG file: fig_19_2_selection.png  (matplotlib plot - edit the script/code and rerun to change the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11.3</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Distribution of gene sums for children of an all-zeros parent and an all-ones parent. Single-point crossover produces a uniform distribution. Two-point crossover peaks at the extremes (when the swapped segment is short) and in the middle...</a:t>
            </a:r>
          </a:p>
        </p:txBody>
      </p:sp>
      <p:pic>
        <p:nvPicPr>
          <p:cNvPr id="4" name="Picture 3" descr="fig_19_3_crossover.png"/>
          <p:cNvPicPr>
            <a:picLocks noChangeAspect="1"/>
          </p:cNvPicPr>
          <p:nvPr/>
        </p:nvPicPr>
        <p:blipFill>
          <a:blip r:embed="rId2"/>
          <a:stretch>
            <a:fillRect/>
          </a:stretch>
        </p:blipFill>
        <p:spPr>
          <a:xfrm>
            <a:off x="838047" y="1463040"/>
            <a:ext cx="10515600" cy="2725152"/>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Chapter_11_Draft.md, section 11.3.8 code  |  PNG file: fig_19_3_crossover.png  (matplotlib plot - edit the script/code and rerun to change the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11.4</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**Left:** Larger populations converge faster to the optimal composite IC (about 0.047) thanks to greater initial diversity, with $N = 100$ and $N = 200$ almost indistinguishable, showing diminishing returns beyond $N \approx 100$. **Righ...</a:t>
            </a:r>
          </a:p>
        </p:txBody>
      </p:sp>
      <p:pic>
        <p:nvPicPr>
          <p:cNvPr id="4" name="Picture 3" descr="fig_19_4_param_sensitivity.png"/>
          <p:cNvPicPr>
            <a:picLocks noChangeAspect="1"/>
          </p:cNvPicPr>
          <p:nvPr/>
        </p:nvPicPr>
        <p:blipFill>
          <a:blip r:embed="rId2"/>
          <a:stretch>
            <a:fillRect/>
          </a:stretch>
        </p:blipFill>
        <p:spPr>
          <a:xfrm>
            <a:off x="838047" y="1463040"/>
            <a:ext cx="10515600" cy="3755571"/>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ga_mini_toy.py  |  PNG file: fig_19_4_param_sensitivity.png  (matplotlib plot - edit the script/code and rerun to change the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11.5</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**Left:** GA convergence for cardinality-constrained portfolio optimisation on 30 real US equities (2015 to 2019). The best monthly Sharpe ratio stabilises well before the 80th generation. **Right:** The optimal portfolio weights, concen...</a:t>
            </a:r>
          </a:p>
        </p:txBody>
      </p:sp>
      <p:pic>
        <p:nvPicPr>
          <p:cNvPr id="4" name="Picture 3" descr="fig_19_5_portfolio.png"/>
          <p:cNvPicPr>
            <a:picLocks noChangeAspect="1"/>
          </p:cNvPicPr>
          <p:nvPr/>
        </p:nvPicPr>
        <p:blipFill>
          <a:blip r:embed="rId2"/>
          <a:stretch>
            <a:fillRect/>
          </a:stretch>
        </p:blipFill>
        <p:spPr>
          <a:xfrm>
            <a:off x="838047" y="1463040"/>
            <a:ext cx="10515600" cy="3755571"/>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ga_book_demos.py (demo_portfolio)  |  PNG file: fig_19_5_portfolio.png  (matplotlib plot - edit the script/code and rerun to change the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11.6</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Mean realised next-month return across deciles of the GP-discovered alpha, computed over the full 2015 to 2019 cross-section (in-sample). The relationship is close to monotone: stocks in the top decile of the evolved formula outperform t...</a:t>
            </a:r>
          </a:p>
        </p:txBody>
      </p:sp>
      <p:pic>
        <p:nvPicPr>
          <p:cNvPr id="4" name="Picture 3" descr="fig_19_6_gp_alpha.png"/>
          <p:cNvPicPr>
            <a:picLocks noChangeAspect="1"/>
          </p:cNvPicPr>
          <p:nvPr/>
        </p:nvPicPr>
        <p:blipFill>
          <a:blip r:embed="rId2"/>
          <a:stretch>
            <a:fillRect/>
          </a:stretch>
        </p:blipFill>
        <p:spPr>
          <a:xfrm>
            <a:off x="2657703" y="1463040"/>
            <a:ext cx="6876288"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ga_book_demos.py (demo_gp)  |  PNG file: fig_19_6_gp_alpha.png  (matplotlib plot - edit the script/code and rerun to change the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11.7</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The NSGA-II-evolved Pareto front (red) for 30 real US equities (2015 to 2019), with monthly return and volatility on the axes. Grey triangles represent individual assets. The Pareto front dominates all individual assets: diversified port...</a:t>
            </a:r>
          </a:p>
        </p:txBody>
      </p:sp>
      <p:pic>
        <p:nvPicPr>
          <p:cNvPr id="4" name="Picture 3" descr="fig_19_7_nsga2.png"/>
          <p:cNvPicPr>
            <a:picLocks noChangeAspect="1"/>
          </p:cNvPicPr>
          <p:nvPr/>
        </p:nvPicPr>
        <p:blipFill>
          <a:blip r:embed="rId2"/>
          <a:stretch>
            <a:fillRect/>
          </a:stretch>
        </p:blipFill>
        <p:spPr>
          <a:xfrm>
            <a:off x="3230727" y="1463040"/>
            <a:ext cx="5730240"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ga_book_demos.py (demo_nsga2)  |  PNG file: fig_19_7_nsga2.png  (matplotlib plot - edit the script/code and rerun to change the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11.8</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**Left:** Cumulative out-of-sample IC over the walk-forward period (January 2018 to February 2026). The GA-selected model (blue, solid) consistently outpaces the all-features baseline (coral, dashed). The curated short list (green, dotte...</a:t>
            </a:r>
          </a:p>
        </p:txBody>
      </p:sp>
      <p:pic>
        <p:nvPicPr>
          <p:cNvPr id="4" name="Picture 3" descr="fig_19_8_cumulative_ic.png"/>
          <p:cNvPicPr>
            <a:picLocks noChangeAspect="1"/>
          </p:cNvPicPr>
          <p:nvPr/>
        </p:nvPicPr>
        <p:blipFill>
          <a:blip r:embed="rId2"/>
          <a:stretch>
            <a:fillRect/>
          </a:stretch>
        </p:blipFill>
        <p:spPr>
          <a:xfrm>
            <a:off x="838047" y="1463040"/>
            <a:ext cx="10515600" cy="3704559"/>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ga_real_data_plots_v3.py  |  PNG file: fig_19_8_cumulative_ic.png  (matplotlib plot - edit the script/code and rerun to change the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11.9</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Selection frequency of the 25 most frequently chosen features across 98 walk-forward windows. Earnings surprise (`REV_Quarterly_Surprise`, 88%), buyback yield (`Buyback_Yield`, 86%), and short-term momentum (`mom_22`, 81%) are selected m...</a:t>
            </a:r>
          </a:p>
        </p:txBody>
      </p:sp>
      <p:pic>
        <p:nvPicPr>
          <p:cNvPr id="4" name="Picture 3" descr="fig_19_9_feature_frequency.png"/>
          <p:cNvPicPr>
            <a:picLocks noChangeAspect="1"/>
          </p:cNvPicPr>
          <p:nvPr/>
        </p:nvPicPr>
        <p:blipFill>
          <a:blip r:embed="rId2"/>
          <a:stretch>
            <a:fillRect/>
          </a:stretch>
        </p:blipFill>
        <p:spPr>
          <a:xfrm>
            <a:off x="3010787" y="1463040"/>
            <a:ext cx="6170121"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ga_real_data_plots_v3.py  |  PNG file: fig_19_9_feature_frequency.png  (matplotlib plot - edit the script/code and rerun to change the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11.10</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Number of features selected by the GA at each walk-forward window. The mean is approximately 38 features (dashed line), with moderate variation across time. The cardinality penalty keeps subsets below 50 features in most windows.</a:t>
            </a:r>
          </a:p>
        </p:txBody>
      </p:sp>
      <p:pic>
        <p:nvPicPr>
          <p:cNvPr id="4" name="Picture 3" descr="fig_19_10_n_selected.png"/>
          <p:cNvPicPr>
            <a:picLocks noChangeAspect="1"/>
          </p:cNvPicPr>
          <p:nvPr/>
        </p:nvPicPr>
        <p:blipFill>
          <a:blip r:embed="rId2"/>
          <a:stretch>
            <a:fillRect/>
          </a:stretch>
        </p:blipFill>
        <p:spPr>
          <a:xfrm>
            <a:off x="838047" y="1463040"/>
            <a:ext cx="10515600" cy="4139609"/>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ga_real_data_plots_v3.py  |  PNG file: fig_19_10_n_selected.png  (matplotlib plot - edit the script/code and rerun to change the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11.11</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Pareto front of the bi-objective feature selection problem (IC vs. number of features). The blue connected line shows the Pareto-optimal trade-off. The green star marks the curated short list (8 features, IC = 0.032) and the coral diamon...</a:t>
            </a:r>
          </a:p>
        </p:txBody>
      </p:sp>
      <p:pic>
        <p:nvPicPr>
          <p:cNvPr id="4" name="Picture 3" descr="fig_19_11_pareto_front.png"/>
          <p:cNvPicPr>
            <a:picLocks noChangeAspect="1"/>
          </p:cNvPicPr>
          <p:nvPr/>
        </p:nvPicPr>
        <p:blipFill>
          <a:blip r:embed="rId2"/>
          <a:stretch>
            <a:fillRect/>
          </a:stretch>
        </p:blipFill>
        <p:spPr>
          <a:xfrm>
            <a:off x="2952273" y="1463040"/>
            <a:ext cx="6287149"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ga_multiobjective_fs.py  |  PNG file: fig_19_11_pareto_front.png  (matplotlib plot - edit the script/code and rerun to change the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11.12</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GA convergence for generalisation-aware gradient boosting tuning. The best recency-validated fitness (blue) improves over the first several generations and then plateaus. Because the search space and the fitness both favour regularisatio...</a:t>
            </a:r>
          </a:p>
        </p:txBody>
      </p:sp>
      <p:pic>
        <p:nvPicPr>
          <p:cNvPr id="4" name="Picture 3" descr="fig_19_12_convergence.png"/>
          <p:cNvPicPr>
            <a:picLocks noChangeAspect="1"/>
          </p:cNvPicPr>
          <p:nvPr/>
        </p:nvPicPr>
        <p:blipFill>
          <a:blip r:embed="rId2"/>
          <a:stretch>
            <a:fillRect/>
          </a:stretch>
        </p:blipFill>
        <p:spPr>
          <a:xfrm>
            <a:off x="2631063" y="1463040"/>
            <a:ext cx="6929569"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ga_xgb_tuning.py  |  PNG file: fig_19_12_convergence.png  (matplotlib plot - edit the script/code and rerun to change the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11.13</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Out-of-sample IC in each of fifteen yearly test periods (2011 to 2025) for warm-start (solid) versus cold-start (dashed) GP alpha mining, under an expanding training window. Dotted lines mark the means. The warm-started GP is positive in...</a:t>
            </a:r>
          </a:p>
        </p:txBody>
      </p:sp>
      <p:pic>
        <p:nvPicPr>
          <p:cNvPr id="4" name="Picture 3" descr="fig_19_13_walkforward.png"/>
          <p:cNvPicPr>
            <a:picLocks noChangeAspect="1"/>
          </p:cNvPicPr>
          <p:nvPr/>
        </p:nvPicPr>
        <p:blipFill>
          <a:blip r:embed="rId2"/>
          <a:stretch>
            <a:fillRect/>
          </a:stretch>
        </p:blipFill>
        <p:spPr>
          <a:xfrm>
            <a:off x="1798167" y="1463040"/>
            <a:ext cx="8595360"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ga_repro_walkforward.py  |  PNG file: fig_19_13_walkforward.png  (matplotlib plot - edit the script/code and rerun to change the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11.14</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Annualised long-short decile Sharpe ratio, in-sample (2015 to 2019, blue) and out-of-sample (2020 to 2022, orange), for features chosen to maximise the decile spread, features chosen to maximise IC, and the curated short list. Only the s...</a:t>
            </a:r>
          </a:p>
        </p:txBody>
      </p:sp>
      <p:pic>
        <p:nvPicPr>
          <p:cNvPr id="4" name="Picture 3" descr="fig_19_14_decile.png"/>
          <p:cNvPicPr>
            <a:picLocks noChangeAspect="1"/>
          </p:cNvPicPr>
          <p:nvPr/>
        </p:nvPicPr>
        <p:blipFill>
          <a:blip r:embed="rId2"/>
          <a:stretch>
            <a:fillRect/>
          </a:stretch>
        </p:blipFill>
        <p:spPr>
          <a:xfrm>
            <a:off x="2657703" y="1463040"/>
            <a:ext cx="6876288"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ga_reproductions.py (repro2)  |  PNG file: fig_19_14_decile.png  (matplotlib plot - edit the script/code and rerun to change the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a:spAutoFit/>
          </a:bodyPr>
          <a:lstStyle/>
          <a:p>
            <a:pPr algn="l"/>
            <a:r>
              <a:rPr sz="2400" b="1"/>
              <a:t>FIGURE 11.15</a:t>
            </a:r>
          </a:p>
        </p:txBody>
      </p:sp>
      <p:sp>
        <p:nvSpPr>
          <p:cNvPr id="3" name="TextBox 2"/>
          <p:cNvSpPr txBox="1"/>
          <p:nvPr/>
        </p:nvSpPr>
        <p:spPr>
          <a:xfrm>
            <a:off x="365760" y="640080"/>
            <a:ext cx="11430000" cy="731520"/>
          </a:xfrm>
          <a:prstGeom prst="rect">
            <a:avLst/>
          </a:prstGeom>
          <a:noFill/>
        </p:spPr>
        <p:txBody>
          <a:bodyPr wrap="square">
            <a:spAutoFit/>
          </a:bodyPr>
          <a:lstStyle/>
          <a:p>
            <a:pPr algn="l"/>
            <a:r>
              <a:rPr sz="1100" b="0"/>
              <a:t>In-sample IC versus formula complexity (tree size in nodes) along the NSGA-II Pareto front. A single value factor (`PB`) achieves IC 0.025; combining it with momentum lifts this to 0.033, and a three-term expression reaches 0.038, after ...</a:t>
            </a:r>
          </a:p>
        </p:txBody>
      </p:sp>
      <p:pic>
        <p:nvPicPr>
          <p:cNvPr id="4" name="Picture 3" descr="fig_19_15_pareto.png"/>
          <p:cNvPicPr>
            <a:picLocks noChangeAspect="1"/>
          </p:cNvPicPr>
          <p:nvPr/>
        </p:nvPicPr>
        <p:blipFill>
          <a:blip r:embed="rId2"/>
          <a:stretch>
            <a:fillRect/>
          </a:stretch>
        </p:blipFill>
        <p:spPr>
          <a:xfrm>
            <a:off x="2657703" y="1463040"/>
            <a:ext cx="6876288" cy="4297680"/>
          </a:xfrm>
          <a:prstGeom prst="rect">
            <a:avLst/>
          </a:prstGeom>
        </p:spPr>
      </p:pic>
      <p:sp>
        <p:nvSpPr>
          <p:cNvPr id="5" name="TextBox 4"/>
          <p:cNvSpPr txBox="1"/>
          <p:nvPr/>
        </p:nvSpPr>
        <p:spPr>
          <a:xfrm>
            <a:off x="365760" y="6309360"/>
            <a:ext cx="11430000" cy="457200"/>
          </a:xfrm>
          <a:prstGeom prst="rect">
            <a:avLst/>
          </a:prstGeom>
          <a:noFill/>
        </p:spPr>
        <p:txBody>
          <a:bodyPr wrap="square">
            <a:spAutoFit/>
          </a:bodyPr>
          <a:lstStyle/>
          <a:p>
            <a:pPr algn="l"/>
            <a:r>
              <a:rPr sz="1000" b="0"/>
              <a:t>Editable source: ga_reproductions.py (repro3)  |  PNG file: fig_19_15_pareto.png  (matplotlib plot - edit the script/code and rerun to change the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