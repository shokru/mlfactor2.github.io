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C3A5B"/>
                </a:solidFill>
              </a:rPr>
              <a:t>Text-mining taxonomy for investment management</a:t>
            </a:r>
          </a:p>
        </p:txBody>
      </p:sp>
      <p:sp>
        <p:nvSpPr>
          <p:cNvPr id="3" name="Rectangle 2"/>
          <p:cNvSpPr/>
          <p:nvPr/>
        </p:nvSpPr>
        <p:spPr>
          <a:xfrm rot="16200000">
            <a:off x="365760" y="868680"/>
            <a:ext cx="502920" cy="5760720"/>
          </a:xfrm>
          <a:prstGeom prst="rect">
            <a:avLst/>
          </a:prstGeom>
          <a:solidFill>
            <a:srgbClr val="3B6F9C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TXT DATA CLASS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4297680" y="868680"/>
            <a:ext cx="502920" cy="5760720"/>
          </a:xfrm>
          <a:prstGeom prst="rect">
            <a:avLst/>
          </a:prstGeom>
          <a:solidFill>
            <a:srgbClr val="D97A3E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DOCUMENT / DATA TYPE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7680960" y="868680"/>
            <a:ext cx="502920" cy="5760720"/>
          </a:xfrm>
          <a:prstGeom prst="rect">
            <a:avLst/>
          </a:prstGeom>
          <a:solidFill>
            <a:srgbClr val="D4A017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METRICS / ITEMS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868680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Corporate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filings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868680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10-K, 10-Q, 8-K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Forms 3/4/5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13-F filings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868680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Readability, risk factors,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insider activity,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institutional positions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10512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Listed-company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communications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810512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Annual reports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IR website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Conference presentations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10512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Guidance changes,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segment growth,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capex commentary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752344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Earnings-call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transcripts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752344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Prepared remarks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Q&amp;A sessions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CEO interviews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752344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Managerial confidence,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question difficulty,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political risk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694176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Public news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and newswires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694176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Newswire feeds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Web articles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Internet archive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694176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Tone, novelty,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coverage intensity,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topic concentration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636008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Social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media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636008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Twitter / StockTwits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Reddit / message boards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Investor blogs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636008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Retail sentiment,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posting volume,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lead-lag with prices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577840"/>
            <a:ext cx="324612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3B6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1C3A5B"/>
                </a:solidFill>
              </a:rPr>
              <a:t>Patents and</a:t>
            </a:r>
          </a:p>
          <a:p>
            <a:pPr algn="ctr"/>
            <a:r>
              <a:rPr sz="1100" b="1" i="0">
                <a:solidFill>
                  <a:srgbClr val="1C3A5B"/>
                </a:solidFill>
              </a:rPr>
              <a:t>IP filings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5577840"/>
            <a:ext cx="2743200" cy="8686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Patent abstracts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Patent claims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Citation 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5577840"/>
            <a:ext cx="384048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Patent value,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innovation novelty,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technology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922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FIGURE 20.2: Six text-data classes for equity factor investing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