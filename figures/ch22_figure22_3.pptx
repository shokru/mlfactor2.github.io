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0" y="86868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22222"/>
                </a:solidFill>
              </a:rPr>
              <a:t>Encoder  (BERT-style)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1225295"/>
            <a:ext cx="5669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</a:rPr>
              <a:t>The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78608" y="1225295"/>
            <a:ext cx="5669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</a:rPr>
              <a:t>bank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45536" y="1225295"/>
            <a:ext cx="5669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</a:rPr>
              <a:t>raised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12464" y="1225295"/>
            <a:ext cx="5669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</a:rPr>
              <a:t>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79392" y="1225295"/>
            <a:ext cx="5669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</a:rPr>
              <a:t>guidance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664207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The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1554480"/>
            <a:ext cx="566928" cy="566928"/>
          </a:xfrm>
          <a:prstGeom prst="rect">
            <a:avLst/>
          </a:prstGeom>
          <a:solidFill>
            <a:srgbClr val="F4D9B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✓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554480"/>
            <a:ext cx="566928" cy="566928"/>
          </a:xfrm>
          <a:prstGeom prst="rect">
            <a:avLst/>
          </a:prstGeom>
          <a:solidFill>
            <a:srgbClr val="F4D9B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45536" y="1554480"/>
            <a:ext cx="566928" cy="566928"/>
          </a:xfrm>
          <a:prstGeom prst="rect">
            <a:avLst/>
          </a:prstGeom>
          <a:solidFill>
            <a:srgbClr val="F4D9B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12464" y="1554480"/>
            <a:ext cx="566928" cy="566928"/>
          </a:xfrm>
          <a:prstGeom prst="rect">
            <a:avLst/>
          </a:prstGeom>
          <a:solidFill>
            <a:srgbClr val="F4D9B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9392" y="1554480"/>
            <a:ext cx="566928" cy="566928"/>
          </a:xfrm>
          <a:prstGeom prst="rect">
            <a:avLst/>
          </a:prstGeom>
          <a:solidFill>
            <a:srgbClr val="F4D9B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231136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bank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2121408"/>
            <a:ext cx="566928" cy="566928"/>
          </a:xfrm>
          <a:prstGeom prst="rect">
            <a:avLst/>
          </a:prstGeom>
          <a:solidFill>
            <a:srgbClr val="F4D9B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2121408"/>
            <a:ext cx="566928" cy="566928"/>
          </a:xfrm>
          <a:prstGeom prst="rect">
            <a:avLst/>
          </a:prstGeom>
          <a:solidFill>
            <a:srgbClr val="F4D9B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45536" y="2121408"/>
            <a:ext cx="566928" cy="566928"/>
          </a:xfrm>
          <a:prstGeom prst="rect">
            <a:avLst/>
          </a:prstGeom>
          <a:solidFill>
            <a:srgbClr val="F4D9B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12464" y="2121408"/>
            <a:ext cx="566928" cy="566928"/>
          </a:xfrm>
          <a:prstGeom prst="rect">
            <a:avLst/>
          </a:prstGeom>
          <a:solidFill>
            <a:srgbClr val="F4D9B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79392" y="2121408"/>
            <a:ext cx="566928" cy="566928"/>
          </a:xfrm>
          <a:prstGeom prst="rect">
            <a:avLst/>
          </a:prstGeom>
          <a:solidFill>
            <a:srgbClr val="F4D9B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798064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raised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0" y="2688336"/>
            <a:ext cx="566928" cy="566928"/>
          </a:xfrm>
          <a:prstGeom prst="rect">
            <a:avLst/>
          </a:prstGeom>
          <a:solidFill>
            <a:srgbClr val="F4D9B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688336"/>
            <a:ext cx="566928" cy="566928"/>
          </a:xfrm>
          <a:prstGeom prst="rect">
            <a:avLst/>
          </a:prstGeom>
          <a:solidFill>
            <a:srgbClr val="F4D9B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45536" y="2688336"/>
            <a:ext cx="566928" cy="566928"/>
          </a:xfrm>
          <a:prstGeom prst="rect">
            <a:avLst/>
          </a:prstGeom>
          <a:solidFill>
            <a:srgbClr val="F4D9B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12464" y="2688336"/>
            <a:ext cx="566928" cy="566928"/>
          </a:xfrm>
          <a:prstGeom prst="rect">
            <a:avLst/>
          </a:prstGeom>
          <a:solidFill>
            <a:srgbClr val="F4D9B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9392" y="2688336"/>
            <a:ext cx="566928" cy="566928"/>
          </a:xfrm>
          <a:prstGeom prst="rect">
            <a:avLst/>
          </a:prstGeom>
          <a:solidFill>
            <a:srgbClr val="F4D9B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364991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its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0" y="3255263"/>
            <a:ext cx="566928" cy="566928"/>
          </a:xfrm>
          <a:prstGeom prst="rect">
            <a:avLst/>
          </a:prstGeom>
          <a:solidFill>
            <a:srgbClr val="F4D9B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255263"/>
            <a:ext cx="566928" cy="566928"/>
          </a:xfrm>
          <a:prstGeom prst="rect">
            <a:avLst/>
          </a:prstGeom>
          <a:solidFill>
            <a:srgbClr val="F4D9B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45536" y="3255263"/>
            <a:ext cx="566928" cy="566928"/>
          </a:xfrm>
          <a:prstGeom prst="rect">
            <a:avLst/>
          </a:prstGeom>
          <a:solidFill>
            <a:srgbClr val="F4D9B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12464" y="3255263"/>
            <a:ext cx="566928" cy="566928"/>
          </a:xfrm>
          <a:prstGeom prst="rect">
            <a:avLst/>
          </a:prstGeom>
          <a:solidFill>
            <a:srgbClr val="F4D9B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79392" y="3255263"/>
            <a:ext cx="566928" cy="566928"/>
          </a:xfrm>
          <a:prstGeom prst="rect">
            <a:avLst/>
          </a:prstGeom>
          <a:solidFill>
            <a:srgbClr val="F4D9B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3931920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guidance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11680" y="3822191"/>
            <a:ext cx="566928" cy="566928"/>
          </a:xfrm>
          <a:prstGeom prst="rect">
            <a:avLst/>
          </a:prstGeom>
          <a:solidFill>
            <a:srgbClr val="F4D9B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3822191"/>
            <a:ext cx="566928" cy="566928"/>
          </a:xfrm>
          <a:prstGeom prst="rect">
            <a:avLst/>
          </a:prstGeom>
          <a:solidFill>
            <a:srgbClr val="F4D9B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45536" y="3822191"/>
            <a:ext cx="566928" cy="566928"/>
          </a:xfrm>
          <a:prstGeom prst="rect">
            <a:avLst/>
          </a:prstGeom>
          <a:solidFill>
            <a:srgbClr val="F4D9B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12464" y="3822191"/>
            <a:ext cx="566928" cy="566928"/>
          </a:xfrm>
          <a:prstGeom prst="rect">
            <a:avLst/>
          </a:prstGeom>
          <a:solidFill>
            <a:srgbClr val="F4D9B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9392" y="3822191"/>
            <a:ext cx="566928" cy="566928"/>
          </a:xfrm>
          <a:prstGeom prst="rect">
            <a:avLst/>
          </a:prstGeom>
          <a:solidFill>
            <a:srgbClr val="F4D9B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11680" y="446227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</a:rPr>
              <a:t>attends to (key)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45920" y="4846320"/>
            <a:ext cx="3566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Bidirectional: every token attends to the whole sentence</a:t>
            </a:r>
            <a:br/>
            <a:r>
              <a:rPr sz="1050" b="0" i="0">
                <a:solidFill>
                  <a:srgbClr val="222222"/>
                </a:solidFill>
              </a:rPr>
              <a:t>-&gt;  understanding, classification, features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86868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22222"/>
                </a:solidFill>
              </a:rPr>
              <a:t>Decoder  (GPT-style)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1225295"/>
            <a:ext cx="5669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</a:rPr>
              <a:t>The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47888" y="1225295"/>
            <a:ext cx="5669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</a:rPr>
              <a:t>bank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14816" y="1225295"/>
            <a:ext cx="5669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</a:rPr>
              <a:t>raised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81744" y="1225295"/>
            <a:ext cx="5669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</a:rPr>
              <a:t>its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48672" y="1225295"/>
            <a:ext cx="5669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</a:rPr>
              <a:t>guidance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29400" y="1664207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The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680960" y="1554480"/>
            <a:ext cx="566928" cy="566928"/>
          </a:xfrm>
          <a:prstGeom prst="rect">
            <a:avLst/>
          </a:prstGeom>
          <a:solidFill>
            <a:srgbClr val="C9E0C9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47888" y="1554480"/>
            <a:ext cx="566928" cy="566928"/>
          </a:xfrm>
          <a:prstGeom prst="rect">
            <a:avLst/>
          </a:prstGeom>
          <a:solidFill>
            <a:srgbClr val="EEEEEE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814816" y="1554480"/>
            <a:ext cx="566928" cy="566928"/>
          </a:xfrm>
          <a:prstGeom prst="rect">
            <a:avLst/>
          </a:prstGeom>
          <a:solidFill>
            <a:srgbClr val="EEEEEE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381744" y="1554480"/>
            <a:ext cx="566928" cy="566928"/>
          </a:xfrm>
          <a:prstGeom prst="rect">
            <a:avLst/>
          </a:prstGeom>
          <a:solidFill>
            <a:srgbClr val="EEEEEE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948672" y="1554480"/>
            <a:ext cx="566928" cy="566928"/>
          </a:xfrm>
          <a:prstGeom prst="rect">
            <a:avLst/>
          </a:prstGeom>
          <a:solidFill>
            <a:srgbClr val="EEEEEE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29400" y="2231136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bank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680960" y="2121408"/>
            <a:ext cx="566928" cy="566928"/>
          </a:xfrm>
          <a:prstGeom prst="rect">
            <a:avLst/>
          </a:prstGeom>
          <a:solidFill>
            <a:srgbClr val="C9E0C9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47888" y="2121408"/>
            <a:ext cx="566928" cy="566928"/>
          </a:xfrm>
          <a:prstGeom prst="rect">
            <a:avLst/>
          </a:prstGeom>
          <a:solidFill>
            <a:srgbClr val="C9E0C9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814816" y="2121408"/>
            <a:ext cx="566928" cy="566928"/>
          </a:xfrm>
          <a:prstGeom prst="rect">
            <a:avLst/>
          </a:prstGeom>
          <a:solidFill>
            <a:srgbClr val="EEEEEE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381744" y="2121408"/>
            <a:ext cx="566928" cy="566928"/>
          </a:xfrm>
          <a:prstGeom prst="rect">
            <a:avLst/>
          </a:prstGeom>
          <a:solidFill>
            <a:srgbClr val="EEEEEE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948672" y="2121408"/>
            <a:ext cx="566928" cy="566928"/>
          </a:xfrm>
          <a:prstGeom prst="rect">
            <a:avLst/>
          </a:prstGeom>
          <a:solidFill>
            <a:srgbClr val="EEEEEE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29400" y="2798064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raised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680960" y="2688336"/>
            <a:ext cx="566928" cy="566928"/>
          </a:xfrm>
          <a:prstGeom prst="rect">
            <a:avLst/>
          </a:prstGeom>
          <a:solidFill>
            <a:srgbClr val="C9E0C9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✓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247888" y="2688336"/>
            <a:ext cx="566928" cy="566928"/>
          </a:xfrm>
          <a:prstGeom prst="rect">
            <a:avLst/>
          </a:prstGeom>
          <a:solidFill>
            <a:srgbClr val="C9E0C9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814816" y="2688336"/>
            <a:ext cx="566928" cy="566928"/>
          </a:xfrm>
          <a:prstGeom prst="rect">
            <a:avLst/>
          </a:prstGeom>
          <a:solidFill>
            <a:srgbClr val="C9E0C9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✓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381744" y="2688336"/>
            <a:ext cx="566928" cy="566928"/>
          </a:xfrm>
          <a:prstGeom prst="rect">
            <a:avLst/>
          </a:prstGeom>
          <a:solidFill>
            <a:srgbClr val="EEEEEE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948672" y="2688336"/>
            <a:ext cx="566928" cy="566928"/>
          </a:xfrm>
          <a:prstGeom prst="rect">
            <a:avLst/>
          </a:prstGeom>
          <a:solidFill>
            <a:srgbClr val="EEEEEE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29400" y="3364991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its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680960" y="3255263"/>
            <a:ext cx="566928" cy="566928"/>
          </a:xfrm>
          <a:prstGeom prst="rect">
            <a:avLst/>
          </a:prstGeom>
          <a:solidFill>
            <a:srgbClr val="C9E0C9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✓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247888" y="3255263"/>
            <a:ext cx="566928" cy="566928"/>
          </a:xfrm>
          <a:prstGeom prst="rect">
            <a:avLst/>
          </a:prstGeom>
          <a:solidFill>
            <a:srgbClr val="C9E0C9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✓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814816" y="3255263"/>
            <a:ext cx="566928" cy="566928"/>
          </a:xfrm>
          <a:prstGeom prst="rect">
            <a:avLst/>
          </a:prstGeom>
          <a:solidFill>
            <a:srgbClr val="C9E0C9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✓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381744" y="3255263"/>
            <a:ext cx="566928" cy="566928"/>
          </a:xfrm>
          <a:prstGeom prst="rect">
            <a:avLst/>
          </a:prstGeom>
          <a:solidFill>
            <a:srgbClr val="C9E0C9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948672" y="3255263"/>
            <a:ext cx="566928" cy="566928"/>
          </a:xfrm>
          <a:prstGeom prst="rect">
            <a:avLst/>
          </a:prstGeom>
          <a:solidFill>
            <a:srgbClr val="EEEEEE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29400" y="3931920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guidance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680960" y="3822191"/>
            <a:ext cx="566928" cy="566928"/>
          </a:xfrm>
          <a:prstGeom prst="rect">
            <a:avLst/>
          </a:prstGeom>
          <a:solidFill>
            <a:srgbClr val="C9E0C9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✓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247888" y="3822191"/>
            <a:ext cx="566928" cy="566928"/>
          </a:xfrm>
          <a:prstGeom prst="rect">
            <a:avLst/>
          </a:prstGeom>
          <a:solidFill>
            <a:srgbClr val="C9E0C9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✓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814816" y="3822191"/>
            <a:ext cx="566928" cy="566928"/>
          </a:xfrm>
          <a:prstGeom prst="rect">
            <a:avLst/>
          </a:prstGeom>
          <a:solidFill>
            <a:srgbClr val="C9E0C9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✓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381744" y="3822191"/>
            <a:ext cx="566928" cy="566928"/>
          </a:xfrm>
          <a:prstGeom prst="rect">
            <a:avLst/>
          </a:prstGeom>
          <a:solidFill>
            <a:srgbClr val="C9E0C9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✓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948672" y="3822191"/>
            <a:ext cx="566928" cy="566928"/>
          </a:xfrm>
          <a:prstGeom prst="rect">
            <a:avLst/>
          </a:prstGeom>
          <a:solidFill>
            <a:srgbClr val="C9E0C9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✓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80960" y="446227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</a:rPr>
              <a:t>attends to (key)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15200" y="4846320"/>
            <a:ext cx="3566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Causal mask: token t attends only to tokens &lt;= t</a:t>
            </a:r>
            <a:br/>
            <a:r>
              <a:rPr sz="1050" b="0" i="0">
                <a:solidFill>
                  <a:srgbClr val="222222"/>
                </a:solidFill>
              </a:rPr>
              <a:t>-&gt;  autoregressive generation, summarisation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74320" y="310896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</a:rPr>
              <a:t>query token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