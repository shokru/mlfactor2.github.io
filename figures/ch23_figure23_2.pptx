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C3A5B"/>
                </a:solidFill>
              </a:rPr>
              <a:t>An LLM-agent architecture for financial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</a:rPr>
              <a:t>Reasoning core, tool layer, memory, and orchestration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2194560" cy="868680"/>
          </a:xfrm>
          <a:prstGeom prst="roundRect">
            <a:avLst/>
          </a:prstGeom>
          <a:solidFill>
            <a:srgbClr val="FFF2CC"/>
          </a:solidFill>
          <a:ln w="15875">
            <a:solidFill>
              <a:srgbClr val="B1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5A4810"/>
                </a:solidFill>
              </a:rPr>
              <a:t>Research task</a:t>
            </a:r>
          </a:p>
          <a:p>
            <a:pPr algn="ctr"/>
            <a:r>
              <a:rPr sz="1000" b="0" i="0">
                <a:solidFill>
                  <a:srgbClr val="5A4810"/>
                </a:solidFill>
              </a:rPr>
              <a:t>"Score SP500 universe for next month"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005840"/>
            <a:ext cx="2743200" cy="868680"/>
          </a:xfrm>
          <a:prstGeom prst="roundRect">
            <a:avLst/>
          </a:prstGeom>
          <a:solidFill>
            <a:srgbClr val="CFE2F3"/>
          </a:solidFill>
          <a:ln w="15875">
            <a:solidFill>
              <a:srgbClr val="2E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1C3A5B"/>
                </a:solidFill>
              </a:rPr>
              <a:t>Planner / Orchestrator</a:t>
            </a:r>
          </a:p>
          <a:p>
            <a:pPr algn="ctr"/>
            <a:r>
              <a:rPr sz="1000" b="0" i="0">
                <a:solidFill>
                  <a:srgbClr val="1C3A5B"/>
                </a:solidFill>
              </a:rPr>
              <a:t>decompose, route, iterate (ReAct, MAS)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005840"/>
            <a:ext cx="5943600" cy="868680"/>
          </a:xfrm>
          <a:prstGeom prst="roundRect">
            <a:avLst/>
          </a:prstGeom>
          <a:solidFill>
            <a:srgbClr val="CFE2F3"/>
          </a:solidFill>
          <a:ln w="15875">
            <a:solidFill>
              <a:srgbClr val="2E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1C3A5B"/>
                </a:solidFill>
              </a:rPr>
              <a:t>LLM reasoning core</a:t>
            </a:r>
          </a:p>
          <a:p>
            <a:pPr algn="ctr"/>
            <a:r>
              <a:rPr sz="1000" b="0" i="0">
                <a:solidFill>
                  <a:srgbClr val="1C3A5B"/>
                </a:solidFill>
              </a:rPr>
              <a:t>chain-of-thought + self-consistency; reasoning-tuned models (o1, R1)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D97A3E"/>
                </a:solidFill>
              </a:rPr>
              <a:t>TOOLS  (function calling, Toolformer)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331720"/>
            <a:ext cx="2194560" cy="1005840"/>
          </a:xfrm>
          <a:prstGeom prst="roundRect">
            <a:avLst/>
          </a:prstGeom>
          <a:solidFill>
            <a:srgbClr val="FCE5CD"/>
          </a:solidFill>
          <a:ln w="15875">
            <a:solidFill>
              <a:srgbClr val="D9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5A3416"/>
                </a:solidFill>
              </a:rPr>
              <a:t>Data fetchers</a:t>
            </a:r>
          </a:p>
          <a:p>
            <a:pPr algn="ctr"/>
            <a:r>
              <a:rPr sz="1000" b="0" i="0">
                <a:solidFill>
                  <a:srgbClr val="5A3416"/>
                </a:solidFill>
              </a:rPr>
              <a:t>EDGAR, news API,</a:t>
            </a:r>
          </a:p>
          <a:p>
            <a:pPr algn="ctr"/>
            <a:r>
              <a:rPr sz="1000" b="0" i="0">
                <a:solidFill>
                  <a:srgbClr val="5A3416"/>
                </a:solidFill>
              </a:rPr>
              <a:t>Bloomberg, vendor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331720"/>
            <a:ext cx="2194560" cy="1005840"/>
          </a:xfrm>
          <a:prstGeom prst="roundRect">
            <a:avLst/>
          </a:prstGeom>
          <a:solidFill>
            <a:srgbClr val="FCE5CD"/>
          </a:solidFill>
          <a:ln w="15875">
            <a:solidFill>
              <a:srgbClr val="D9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5A3416"/>
                </a:solidFill>
              </a:rPr>
              <a:t>Quant libraries</a:t>
            </a:r>
          </a:p>
          <a:p>
            <a:pPr algn="ctr"/>
            <a:r>
              <a:rPr sz="1000" b="0" i="0">
                <a:solidFill>
                  <a:srgbClr val="5A3416"/>
                </a:solidFill>
              </a:rPr>
              <a:t>pandas, numpy,</a:t>
            </a:r>
          </a:p>
          <a:p>
            <a:pPr algn="ctr"/>
            <a:r>
              <a:rPr sz="1000" b="0" i="0">
                <a:solidFill>
                  <a:srgbClr val="5A3416"/>
                </a:solidFill>
              </a:rPr>
              <a:t>sklearn, custom factors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2331720"/>
            <a:ext cx="2194560" cy="1005840"/>
          </a:xfrm>
          <a:prstGeom prst="roundRect">
            <a:avLst/>
          </a:prstGeom>
          <a:solidFill>
            <a:srgbClr val="FCE5CD"/>
          </a:solidFill>
          <a:ln w="15875">
            <a:solidFill>
              <a:srgbClr val="D9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5A3416"/>
                </a:solidFill>
              </a:rPr>
              <a:t>Code interpreter</a:t>
            </a:r>
          </a:p>
          <a:p>
            <a:pPr algn="ctr"/>
            <a:r>
              <a:rPr sz="1000" b="0" i="0">
                <a:solidFill>
                  <a:srgbClr val="5A3416"/>
                </a:solidFill>
              </a:rPr>
              <a:t>Python sandbox</a:t>
            </a:r>
          </a:p>
          <a:p>
            <a:pPr algn="ctr"/>
            <a:r>
              <a:rPr sz="1000" b="0" i="0">
                <a:solidFill>
                  <a:srgbClr val="5A3416"/>
                </a:solidFill>
              </a:rPr>
              <a:t>execution, plots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2331720"/>
            <a:ext cx="2194560" cy="1005840"/>
          </a:xfrm>
          <a:prstGeom prst="roundRect">
            <a:avLst/>
          </a:prstGeom>
          <a:solidFill>
            <a:srgbClr val="FCE5CD"/>
          </a:solidFill>
          <a:ln w="15875">
            <a:solidFill>
              <a:srgbClr val="D9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5A3416"/>
                </a:solidFill>
              </a:rPr>
              <a:t>Retrieval (RAG)</a:t>
            </a:r>
          </a:p>
          <a:p>
            <a:pPr algn="ctr"/>
            <a:r>
              <a:rPr sz="1000" b="0" i="0">
                <a:solidFill>
                  <a:srgbClr val="5A3416"/>
                </a:solidFill>
              </a:rPr>
              <a:t>vector + KG search</a:t>
            </a:r>
          </a:p>
          <a:p>
            <a:pPr algn="ctr"/>
            <a:r>
              <a:rPr sz="1000" b="0" i="0">
                <a:solidFill>
                  <a:srgbClr val="5A3416"/>
                </a:solidFill>
              </a:rPr>
              <a:t>over 10-Ks, transcripts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2331720"/>
            <a:ext cx="2194560" cy="1005840"/>
          </a:xfrm>
          <a:prstGeom prst="roundRect">
            <a:avLst/>
          </a:prstGeom>
          <a:solidFill>
            <a:srgbClr val="FCE5CD"/>
          </a:solidFill>
          <a:ln w="15875">
            <a:solidFill>
              <a:srgbClr val="D9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5A3416"/>
                </a:solidFill>
              </a:rPr>
              <a:t>External agents</a:t>
            </a:r>
          </a:p>
          <a:p>
            <a:pPr algn="ctr"/>
            <a:r>
              <a:rPr sz="1000" b="0" i="0">
                <a:solidFill>
                  <a:srgbClr val="5A3416"/>
                </a:solidFill>
              </a:rPr>
              <a:t>model-to-model</a:t>
            </a:r>
          </a:p>
          <a:p>
            <a:pPr algn="ctr"/>
            <a:r>
              <a:rPr sz="1000" b="0" i="0">
                <a:solidFill>
                  <a:srgbClr val="5A3416"/>
                </a:solidFill>
              </a:rPr>
              <a:t>delegation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7472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7A9442"/>
                </a:solidFill>
              </a:rPr>
              <a:t>MEMORY  (FinMem-style layered design)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749039"/>
            <a:ext cx="3840480" cy="1005840"/>
          </a:xfrm>
          <a:prstGeom prst="roundRect">
            <a:avLst/>
          </a:prstGeom>
          <a:solidFill>
            <a:srgbClr val="E2EFD9"/>
          </a:solidFill>
          <a:ln w="15875">
            <a:solidFill>
              <a:srgbClr val="7A9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3D5024"/>
                </a:solidFill>
              </a:rPr>
              <a:t>Short-term context</a:t>
            </a:r>
          </a:p>
          <a:p>
            <a:pPr algn="ctr"/>
            <a:r>
              <a:rPr sz="1000" b="0" i="0">
                <a:solidFill>
                  <a:srgbClr val="3D5024"/>
                </a:solidFill>
              </a:rPr>
              <a:t>current prompt, prior turns, scratchpad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749039"/>
            <a:ext cx="3840480" cy="1005840"/>
          </a:xfrm>
          <a:prstGeom prst="roundRect">
            <a:avLst/>
          </a:prstGeom>
          <a:solidFill>
            <a:srgbClr val="E2EFD9"/>
          </a:solidFill>
          <a:ln w="15875">
            <a:solidFill>
              <a:srgbClr val="7A9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3D5024"/>
                </a:solidFill>
              </a:rPr>
              <a:t>Mid-term episodic</a:t>
            </a:r>
          </a:p>
          <a:p>
            <a:pPr algn="ctr"/>
            <a:r>
              <a:rPr sz="1000" b="0" i="0">
                <a:solidFill>
                  <a:srgbClr val="3D5024"/>
                </a:solidFill>
              </a:rPr>
              <a:t>recent calls, backtests, similar cases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749039"/>
            <a:ext cx="3840480" cy="1005840"/>
          </a:xfrm>
          <a:prstGeom prst="roundRect">
            <a:avLst/>
          </a:prstGeom>
          <a:solidFill>
            <a:srgbClr val="E2EFD9"/>
          </a:solidFill>
          <a:ln w="15875">
            <a:solidFill>
              <a:srgbClr val="7A9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3D5024"/>
                </a:solidFill>
              </a:rPr>
              <a:t>Long-term semantic</a:t>
            </a:r>
          </a:p>
          <a:p>
            <a:pPr algn="ctr"/>
            <a:r>
              <a:rPr sz="1000" b="0" i="0">
                <a:solidFill>
                  <a:srgbClr val="3D5024"/>
                </a:solidFill>
              </a:rPr>
              <a:t>factor library, strategy history, notes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4892040"/>
            <a:ext cx="3931920" cy="777240"/>
          </a:xfrm>
          <a:prstGeom prst="roundRect">
            <a:avLst/>
          </a:prstGeom>
          <a:solidFill>
            <a:srgbClr val="FFF2CC"/>
          </a:solidFill>
          <a:ln w="15875">
            <a:solidFill>
              <a:srgbClr val="B1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1" i="0">
                <a:solidFill>
                  <a:srgbClr val="5A4810"/>
                </a:solidFill>
              </a:rPr>
              <a:t>Output: factor signal / report / recommendation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897880"/>
            <a:ext cx="11430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Reading order: task -&gt; planner -&gt; reasoning core (with iterative tool calls and memory reads) -&gt; output.</a:t>
            </a:r>
            <a:br/>
            <a:r>
              <a:rPr sz="900" b="0" i="1">
                <a:solidFill>
                  <a:srgbClr val="555555"/>
                </a:solidFill>
              </a:rPr>
              <a:t>Agents add the orange tool layer and green memory layer on top of a plain LLM. FinMem (Yu et al., 2024), FinRobot (Yang et al., 2024), TradingGPT (Li et al., 2023), and Du et al. (2023) instantiate this template.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6583680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</a:rPr>
              <a:t>FIGURE 23.2: LLM-agent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