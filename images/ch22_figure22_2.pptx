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77440" y="6172200"/>
            <a:ext cx="29260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Input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7440" y="5340096"/>
            <a:ext cx="2926080" cy="566928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Input embedding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+ positional encoding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697480"/>
            <a:ext cx="3383280" cy="2514600"/>
          </a:xfrm>
          <a:prstGeom prst="roundRect">
            <a:avLst/>
          </a:prstGeom>
          <a:solidFill>
            <a:srgbClr val="E6E6E6"/>
          </a:solidFill>
          <a:ln w="158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4526280"/>
            <a:ext cx="2926080" cy="548640"/>
          </a:xfrm>
          <a:prstGeom prst="roundRect">
            <a:avLst/>
          </a:prstGeom>
          <a:solidFill>
            <a:srgbClr val="E8A33D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Multi-head</a:t>
            </a:r>
          </a:p>
          <a:p>
            <a:pPr algn="ctr"/>
            <a:r>
              <a:rPr sz="1100" b="0" i="0">
                <a:solidFill>
                  <a:srgbClr val="222222"/>
                </a:solidFill>
              </a:rPr>
              <a:t>self-attention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3959352"/>
            <a:ext cx="2926080" cy="402336"/>
          </a:xfrm>
          <a:prstGeom prst="roundRect">
            <a:avLst/>
          </a:prstGeom>
          <a:solidFill>
            <a:srgbClr val="A9C7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Add &amp; Norm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3291840"/>
            <a:ext cx="2926080" cy="457200"/>
          </a:xfrm>
          <a:prstGeom prst="roundRect">
            <a:avLst/>
          </a:prstGeom>
          <a:solidFill>
            <a:srgbClr val="8FBF9F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Feed-forward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770632"/>
            <a:ext cx="2926080" cy="402336"/>
          </a:xfrm>
          <a:prstGeom prst="roundRect">
            <a:avLst/>
          </a:prstGeom>
          <a:solidFill>
            <a:srgbClr val="A9C7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Add &amp; Norm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36576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</a:rPr>
              <a:t>x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860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</a:rPr>
              <a:t>ENCODER  (understanding)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5916168"/>
            <a:ext cx="0" cy="25603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40480" y="5084064"/>
            <a:ext cx="0" cy="25603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840480" y="4370832"/>
            <a:ext cx="0" cy="15544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40480" y="3758184"/>
            <a:ext cx="0" cy="20116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40480" y="3182112"/>
            <a:ext cx="0" cy="10972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0" y="6172200"/>
            <a:ext cx="292608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Output sequence</a:t>
            </a:r>
          </a:p>
          <a:p>
            <a:pPr algn="ctr"/>
            <a:r>
              <a:rPr sz="1100" b="0" i="0">
                <a:solidFill>
                  <a:srgbClr val="222222"/>
                </a:solidFill>
              </a:rPr>
              <a:t>(shifted right)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340096"/>
            <a:ext cx="2926080" cy="566928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Output embedding</a:t>
            </a:r>
          </a:p>
          <a:p>
            <a:pPr algn="ctr"/>
            <a:r>
              <a:rPr sz="1100" b="0" i="0">
                <a:solidFill>
                  <a:srgbClr val="FFFFFF"/>
                </a:solidFill>
              </a:rPr>
              <a:t>+ positional encoding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148840"/>
            <a:ext cx="3383280" cy="3063240"/>
          </a:xfrm>
          <a:prstGeom prst="roundRect">
            <a:avLst/>
          </a:prstGeom>
          <a:solidFill>
            <a:srgbClr val="E6E6E6"/>
          </a:solidFill>
          <a:ln w="1587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4526280"/>
            <a:ext cx="2926080" cy="548640"/>
          </a:xfrm>
          <a:prstGeom prst="roundRect">
            <a:avLst/>
          </a:prstGeom>
          <a:solidFill>
            <a:srgbClr val="E8A33D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Masked multi-head</a:t>
            </a:r>
          </a:p>
          <a:p>
            <a:pPr algn="ctr"/>
            <a:r>
              <a:rPr sz="1050" b="0" i="0">
                <a:solidFill>
                  <a:srgbClr val="222222"/>
                </a:solidFill>
              </a:rPr>
              <a:t>self-attention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023359"/>
            <a:ext cx="2926080" cy="365760"/>
          </a:xfrm>
          <a:prstGeom prst="roundRect">
            <a:avLst/>
          </a:prstGeom>
          <a:solidFill>
            <a:srgbClr val="A9C7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Add &amp; Norm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360420"/>
            <a:ext cx="2926080" cy="502920"/>
          </a:xfrm>
          <a:prstGeom prst="roundRect">
            <a:avLst/>
          </a:prstGeom>
          <a:solidFill>
            <a:srgbClr val="E8A33D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Cross multi-head</a:t>
            </a:r>
          </a:p>
          <a:p>
            <a:pPr algn="ctr"/>
            <a:r>
              <a:rPr sz="1050" b="0" i="0">
                <a:solidFill>
                  <a:srgbClr val="222222"/>
                </a:solidFill>
              </a:rPr>
              <a:t>attention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880360"/>
            <a:ext cx="2926080" cy="365760"/>
          </a:xfrm>
          <a:prstGeom prst="roundRect">
            <a:avLst/>
          </a:prstGeom>
          <a:solidFill>
            <a:srgbClr val="A9C7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Add &amp; Norm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414016"/>
            <a:ext cx="2926080" cy="384048"/>
          </a:xfrm>
          <a:prstGeom prst="roundRect">
            <a:avLst/>
          </a:prstGeom>
          <a:solidFill>
            <a:srgbClr val="8FBF9F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Feed-forward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84832"/>
            <a:ext cx="2926080" cy="310896"/>
          </a:xfrm>
          <a:prstGeom prst="roundRect">
            <a:avLst/>
          </a:prstGeom>
          <a:solidFill>
            <a:srgbClr val="A9C7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950" b="0" i="0">
                <a:solidFill>
                  <a:srgbClr val="222222"/>
                </a:solidFill>
              </a:rPr>
              <a:t>Add &amp; Norm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5661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</a:rPr>
              <a:t>x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222222"/>
                </a:solidFill>
              </a:rPr>
              <a:t>DECODER  (generation)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321040" y="5916168"/>
            <a:ext cx="0" cy="25603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21040" y="5084064"/>
            <a:ext cx="0" cy="25603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321040" y="4398264"/>
            <a:ext cx="0" cy="128016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321040" y="3877056"/>
            <a:ext cx="0" cy="146304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321040" y="3255264"/>
            <a:ext cx="0" cy="100584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321040" y="2807208"/>
            <a:ext cx="0" cy="7315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321040" y="2404872"/>
            <a:ext cx="0" cy="9144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58000" y="1399032"/>
            <a:ext cx="2926080" cy="402336"/>
          </a:xfrm>
          <a:prstGeom prst="roundRect">
            <a:avLst/>
          </a:prstGeom>
          <a:solidFill>
            <a:srgbClr val="4A7FB5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Linear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804672"/>
            <a:ext cx="2926080" cy="402336"/>
          </a:xfrm>
          <a:prstGeom prst="roundRect">
            <a:avLst/>
          </a:prstGeom>
          <a:solidFill>
            <a:srgbClr val="E8D24A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Softmax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210312"/>
            <a:ext cx="292608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Output probabilities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321040" y="1810512"/>
            <a:ext cx="0" cy="24688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321040" y="1216152"/>
            <a:ext cx="0" cy="173736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21040" y="621792"/>
            <a:ext cx="0" cy="173736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03520" y="2971800"/>
            <a:ext cx="1554480" cy="64008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66360" y="2926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K, V from encoder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