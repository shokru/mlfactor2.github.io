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30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1C3A5B"/>
                </a:solidFill>
              </a:rPr>
              <a:t>The LLM inference ecosystem for financial NLP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02920"/>
            <a:ext cx="11430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</a:rPr>
              <a:t>From research workflow to silicon: four layers and two cross-cutting cost levers</a:t>
            </a:r>
          </a:p>
        </p:txBody>
      </p:sp>
      <p:sp>
        <p:nvSpPr>
          <p:cNvPr id="4" name="Rectangle 3"/>
          <p:cNvSpPr/>
          <p:nvPr/>
        </p:nvSpPr>
        <p:spPr>
          <a:xfrm rot="16200000">
            <a:off x="274320" y="868680"/>
            <a:ext cx="457200" cy="1325880"/>
          </a:xfrm>
          <a:prstGeom prst="rect">
            <a:avLst/>
          </a:prstGeom>
          <a:solidFill>
            <a:srgbClr val="2E5A8A"/>
          </a:solidFill>
          <a:ln w="15875">
            <a:solidFill>
              <a:srgbClr val="2E5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LAYER 1</a:t>
            </a:r>
          </a:p>
        </p:txBody>
      </p:sp>
      <p:sp>
        <p:nvSpPr>
          <p:cNvPr id="5" name="Rectangle 4"/>
          <p:cNvSpPr/>
          <p:nvPr/>
        </p:nvSpPr>
        <p:spPr>
          <a:xfrm rot="16200000">
            <a:off x="274320" y="2331720"/>
            <a:ext cx="457200" cy="1325880"/>
          </a:xfrm>
          <a:prstGeom prst="rect">
            <a:avLst/>
          </a:prstGeom>
          <a:solidFill>
            <a:srgbClr val="D97A3E"/>
          </a:solidFill>
          <a:ln w="15875">
            <a:solidFill>
              <a:srgbClr val="D97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LAYER 2</a:t>
            </a:r>
          </a:p>
        </p:txBody>
      </p:sp>
      <p:sp>
        <p:nvSpPr>
          <p:cNvPr id="6" name="Rectangle 5"/>
          <p:cNvSpPr/>
          <p:nvPr/>
        </p:nvSpPr>
        <p:spPr>
          <a:xfrm rot="16200000">
            <a:off x="274320" y="3794760"/>
            <a:ext cx="457200" cy="1325880"/>
          </a:xfrm>
          <a:prstGeom prst="rect">
            <a:avLst/>
          </a:prstGeom>
          <a:solidFill>
            <a:srgbClr val="7A9442"/>
          </a:solidFill>
          <a:ln w="15875">
            <a:solidFill>
              <a:srgbClr val="7A9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LAYER 3</a:t>
            </a:r>
          </a:p>
        </p:txBody>
      </p:sp>
      <p:sp>
        <p:nvSpPr>
          <p:cNvPr id="7" name="Rectangle 6"/>
          <p:cNvSpPr/>
          <p:nvPr/>
        </p:nvSpPr>
        <p:spPr>
          <a:xfrm rot="16200000">
            <a:off x="274320" y="5257800"/>
            <a:ext cx="457200" cy="1417320"/>
          </a:xfrm>
          <a:prstGeom prst="rect">
            <a:avLst/>
          </a:prstGeom>
          <a:solidFill>
            <a:srgbClr val="B1893A"/>
          </a:solidFill>
          <a:ln w="15875">
            <a:solidFill>
              <a:srgbClr val="B1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LAYER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79552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2E5A8A"/>
                </a:solidFill>
              </a:rPr>
              <a:t>APPLICATION / ACCESS MODE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005840"/>
            <a:ext cx="2560320" cy="1097280"/>
          </a:xfrm>
          <a:prstGeom prst="roundRect">
            <a:avLst/>
          </a:prstGeom>
          <a:solidFill>
            <a:srgbClr val="CFE2F3"/>
          </a:solidFill>
          <a:ln w="15875">
            <a:solidFill>
              <a:srgbClr val="2E5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000" b="0" i="0">
                <a:solidFill>
                  <a:srgbClr val="1C3A5B"/>
                </a:solidFill>
              </a:rPr>
              <a:t>Synchronous API</a:t>
            </a:r>
          </a:p>
          <a:p>
            <a:pPr algn="ctr"/>
            <a:r>
              <a:rPr sz="1000" b="0" i="0">
                <a:solidFill>
                  <a:srgbClr val="1C3A5B"/>
                </a:solidFill>
              </a:rPr>
              <a:t>interactive Q&amp;A, latency-bound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005840"/>
            <a:ext cx="2560320" cy="1097280"/>
          </a:xfrm>
          <a:prstGeom prst="roundRect">
            <a:avLst/>
          </a:prstGeom>
          <a:solidFill>
            <a:srgbClr val="CFE2F3"/>
          </a:solidFill>
          <a:ln w="15875">
            <a:solidFill>
              <a:srgbClr val="2E5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000" b="0" i="0">
                <a:solidFill>
                  <a:srgbClr val="1C3A5B"/>
                </a:solidFill>
              </a:rPr>
              <a:t>Batch API  (-50%)</a:t>
            </a:r>
          </a:p>
          <a:p>
            <a:pPr algn="ctr"/>
            <a:r>
              <a:rPr sz="1000" b="0" i="0">
                <a:solidFill>
                  <a:srgbClr val="1C3A5B"/>
                </a:solidFill>
              </a:rPr>
              <a:t>OpenAI Batch · Anthropic Batches · Vertex Batch Prediction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005840"/>
            <a:ext cx="2697480" cy="1097280"/>
          </a:xfrm>
          <a:prstGeom prst="roundRect">
            <a:avLst/>
          </a:prstGeom>
          <a:solidFill>
            <a:srgbClr val="CFE2F3"/>
          </a:solidFill>
          <a:ln w="15875">
            <a:solidFill>
              <a:srgbClr val="2E5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000" b="0" i="0">
                <a:solidFill>
                  <a:srgbClr val="1C3A5B"/>
                </a:solidFill>
              </a:rPr>
              <a:t>Prompt caching  (up to -90%)</a:t>
            </a:r>
          </a:p>
          <a:p>
            <a:pPr algn="ctr"/>
            <a:r>
              <a:rPr sz="1000" b="0" i="0">
                <a:solidFill>
                  <a:srgbClr val="1C3A5B"/>
                </a:solidFill>
              </a:rPr>
              <a:t>Anthropic cache · OpenAI prompt cache · Vertex context caching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6840" y="1005840"/>
            <a:ext cx="2834640" cy="1097280"/>
          </a:xfrm>
          <a:prstGeom prst="roundRect">
            <a:avLst/>
          </a:prstGeom>
          <a:solidFill>
            <a:srgbClr val="CFE2F3"/>
          </a:solidFill>
          <a:ln w="15875">
            <a:solidFill>
              <a:srgbClr val="2E5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000" b="0" i="0">
                <a:solidFill>
                  <a:srgbClr val="1C3A5B"/>
                </a:solidFill>
              </a:rPr>
              <a:t>Streaming + tool use</a:t>
            </a:r>
          </a:p>
          <a:p>
            <a:pPr algn="ctr"/>
            <a:r>
              <a:rPr sz="1000" b="0" i="0">
                <a:solidFill>
                  <a:srgbClr val="1C3A5B"/>
                </a:solidFill>
              </a:rPr>
              <a:t>real-time analyst copilots, function calling, agents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5856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D97A3E"/>
                </a:solidFill>
              </a:rPr>
              <a:t>MODEL ACCESS PROVIDERS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2468880"/>
            <a:ext cx="3657600" cy="1097280"/>
          </a:xfrm>
          <a:prstGeom prst="roundRect">
            <a:avLst/>
          </a:prstGeom>
          <a:solidFill>
            <a:srgbClr val="FCE5CD"/>
          </a:solidFill>
          <a:ln w="15875">
            <a:solidFill>
              <a:srgbClr val="D97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000" b="0" i="0">
                <a:solidFill>
                  <a:srgbClr val="5A3416"/>
                </a:solidFill>
              </a:rPr>
              <a:t>Vendor-direct APIs</a:t>
            </a:r>
          </a:p>
          <a:p>
            <a:pPr algn="ctr"/>
            <a:r>
              <a:rPr sz="1000" b="0" i="0">
                <a:solidFill>
                  <a:srgbClr val="5A3416"/>
                </a:solidFill>
              </a:rPr>
              <a:t>OpenAI · Anthropic · Google · Cohere · Mistral · DeepSeek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2468880"/>
            <a:ext cx="3657600" cy="1097280"/>
          </a:xfrm>
          <a:prstGeom prst="roundRect">
            <a:avLst/>
          </a:prstGeom>
          <a:solidFill>
            <a:srgbClr val="FCE5CD"/>
          </a:solidFill>
          <a:ln w="15875">
            <a:solidFill>
              <a:srgbClr val="D97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000" b="0" i="0">
                <a:solidFill>
                  <a:srgbClr val="5A3416"/>
                </a:solidFill>
              </a:rPr>
              <a:t>Cloud inference specialists</a:t>
            </a:r>
          </a:p>
          <a:p>
            <a:pPr algn="ctr"/>
            <a:r>
              <a:rPr sz="1000" b="0" i="0">
                <a:solidFill>
                  <a:srgbClr val="5A3416"/>
                </a:solidFill>
              </a:rPr>
              <a:t>Together AI · Fireworks · Anyscale · Replicate · Lepton · Modal · HF Inference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2468880"/>
            <a:ext cx="3474720" cy="1097280"/>
          </a:xfrm>
          <a:prstGeom prst="roundRect">
            <a:avLst/>
          </a:prstGeom>
          <a:solidFill>
            <a:srgbClr val="FCE5CD"/>
          </a:solidFill>
          <a:ln w="15875">
            <a:solidFill>
              <a:srgbClr val="D97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000" b="0" i="0">
                <a:solidFill>
                  <a:srgbClr val="5A3416"/>
                </a:solidFill>
              </a:rPr>
              <a:t>Hyperscaler-integrated APIs</a:t>
            </a:r>
          </a:p>
          <a:p>
            <a:pPr algn="ctr"/>
            <a:r>
              <a:rPr sz="1000" b="0" i="0">
                <a:solidFill>
                  <a:srgbClr val="5A3416"/>
                </a:solidFill>
              </a:rPr>
              <a:t>AWS Bedrock · Azure OpenAI · Google Vertex AI</a:t>
            </a:r>
          </a:p>
          <a:p>
            <a:pPr algn="ctr"/>
            <a:r>
              <a:rPr sz="1000" b="0" i="0">
                <a:solidFill>
                  <a:srgbClr val="5A3416"/>
                </a:solidFill>
              </a:rPr>
              <a:t>(compliance, IAM, regional residency)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72160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7A9442"/>
                </a:solidFill>
              </a:rPr>
              <a:t>SERVING RUNTIME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3931920"/>
            <a:ext cx="1907438" cy="1097280"/>
          </a:xfrm>
          <a:prstGeom prst="roundRect">
            <a:avLst/>
          </a:prstGeom>
          <a:solidFill>
            <a:srgbClr val="E2EFD9"/>
          </a:solidFill>
          <a:ln w="15875">
            <a:solidFill>
              <a:srgbClr val="7A9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000" b="0" i="0">
                <a:solidFill>
                  <a:srgbClr val="3D5024"/>
                </a:solidFill>
              </a:rPr>
              <a:t>vLLM</a:t>
            </a:r>
          </a:p>
          <a:p>
            <a:pPr algn="ctr"/>
            <a:r>
              <a:rPr sz="1000" b="0" i="0">
                <a:solidFill>
                  <a:srgbClr val="3D5024"/>
                </a:solidFill>
              </a:rPr>
              <a:t>PagedAttention, default OSS server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67558" y="3931920"/>
            <a:ext cx="1907438" cy="1097280"/>
          </a:xfrm>
          <a:prstGeom prst="roundRect">
            <a:avLst/>
          </a:prstGeom>
          <a:solidFill>
            <a:srgbClr val="E2EFD9"/>
          </a:solidFill>
          <a:ln w="15875">
            <a:solidFill>
              <a:srgbClr val="7A9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000" b="0" i="0">
                <a:solidFill>
                  <a:srgbClr val="3D5024"/>
                </a:solidFill>
              </a:rPr>
              <a:t>TGI</a:t>
            </a:r>
          </a:p>
          <a:p>
            <a:pPr algn="ctr"/>
            <a:r>
              <a:rPr sz="1000" b="0" i="0">
                <a:solidFill>
                  <a:srgbClr val="3D5024"/>
                </a:solidFill>
              </a:rPr>
              <a:t>HF Text Gen Inference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66436" y="3931920"/>
            <a:ext cx="1907438" cy="1097280"/>
          </a:xfrm>
          <a:prstGeom prst="roundRect">
            <a:avLst/>
          </a:prstGeom>
          <a:solidFill>
            <a:srgbClr val="E2EFD9"/>
          </a:solidFill>
          <a:ln w="15875">
            <a:solidFill>
              <a:srgbClr val="7A9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000" b="0" i="0">
                <a:solidFill>
                  <a:srgbClr val="3D5024"/>
                </a:solidFill>
              </a:rPr>
              <a:t>TensorRT-LLM</a:t>
            </a:r>
          </a:p>
          <a:p>
            <a:pPr algn="ctr"/>
            <a:r>
              <a:rPr sz="1000" b="0" i="0">
                <a:solidFill>
                  <a:srgbClr val="3D5024"/>
                </a:solidFill>
              </a:rPr>
              <a:t>NVIDIA-optimized, low latency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65314" y="3931920"/>
            <a:ext cx="1907438" cy="1097280"/>
          </a:xfrm>
          <a:prstGeom prst="roundRect">
            <a:avLst/>
          </a:prstGeom>
          <a:solidFill>
            <a:srgbClr val="E2EFD9"/>
          </a:solidFill>
          <a:ln w="15875">
            <a:solidFill>
              <a:srgbClr val="7A9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000" b="0" i="0">
                <a:solidFill>
                  <a:srgbClr val="3D5024"/>
                </a:solidFill>
              </a:rPr>
              <a:t>Ollama / LM Studio</a:t>
            </a:r>
          </a:p>
          <a:p>
            <a:pPr algn="ctr"/>
            <a:r>
              <a:rPr sz="1000" b="0" i="0">
                <a:solidFill>
                  <a:srgbClr val="3D5024"/>
                </a:solidFill>
              </a:rPr>
              <a:t>developer laptop, single user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64192" y="3931920"/>
            <a:ext cx="1907438" cy="1097280"/>
          </a:xfrm>
          <a:prstGeom prst="roundRect">
            <a:avLst/>
          </a:prstGeom>
          <a:solidFill>
            <a:srgbClr val="E2EFD9"/>
          </a:solidFill>
          <a:ln w="15875">
            <a:solidFill>
              <a:srgbClr val="7A9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000" b="0" i="0">
                <a:solidFill>
                  <a:srgbClr val="3D5024"/>
                </a:solidFill>
              </a:rPr>
              <a:t>llama.cpp</a:t>
            </a:r>
          </a:p>
          <a:p>
            <a:pPr algn="ctr"/>
            <a:r>
              <a:rPr sz="1000" b="0" i="0">
                <a:solidFill>
                  <a:srgbClr val="3D5024"/>
                </a:solidFill>
              </a:rPr>
              <a:t>GGUF quant: Q4_K_M, Q8_0, MXFP4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184648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B1893A"/>
                </a:solidFill>
              </a:rPr>
              <a:t>HARDWARE / SILICON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5394960"/>
            <a:ext cx="3657600" cy="1188720"/>
          </a:xfrm>
          <a:prstGeom prst="roundRect">
            <a:avLst/>
          </a:prstGeom>
          <a:solidFill>
            <a:srgbClr val="FFF2CC"/>
          </a:solidFill>
          <a:ln w="15875">
            <a:solidFill>
              <a:srgbClr val="B1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000" b="0" i="0">
                <a:solidFill>
                  <a:srgbClr val="5A4810"/>
                </a:solidFill>
              </a:rPr>
              <a:t>Specialized inference</a:t>
            </a:r>
          </a:p>
          <a:p>
            <a:pPr algn="ctr"/>
            <a:r>
              <a:rPr sz="1000" b="0" i="0">
                <a:solidFill>
                  <a:srgbClr val="5A4810"/>
                </a:solidFill>
              </a:rPr>
              <a:t>Groq LPU (500-800 t/s · sub-10ms TTFT)</a:t>
            </a:r>
          </a:p>
          <a:p>
            <a:pPr algn="ctr"/>
            <a:r>
              <a:rPr sz="1000" b="0" i="0">
                <a:solidFill>
                  <a:srgbClr val="5A4810"/>
                </a:solidFill>
              </a:rPr>
              <a:t>Cerebras WSE-3 (&gt;2000 t/s)</a:t>
            </a:r>
          </a:p>
          <a:p>
            <a:pPr algn="ctr"/>
            <a:r>
              <a:rPr sz="1000" b="0" i="0">
                <a:solidFill>
                  <a:srgbClr val="5A4810"/>
                </a:solidFill>
              </a:rPr>
              <a:t>SambaNova SN40L (Llama 405B)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17720" y="5394960"/>
            <a:ext cx="3657600" cy="1188720"/>
          </a:xfrm>
          <a:prstGeom prst="roundRect">
            <a:avLst/>
          </a:prstGeom>
          <a:solidFill>
            <a:srgbClr val="FFF2CC"/>
          </a:solidFill>
          <a:ln w="15875">
            <a:solidFill>
              <a:srgbClr val="B1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000" b="0" i="0">
                <a:solidFill>
                  <a:srgbClr val="5A4810"/>
                </a:solidFill>
              </a:rPr>
              <a:t>General-purpose GPUs</a:t>
            </a:r>
          </a:p>
          <a:p>
            <a:pPr algn="ctr"/>
            <a:r>
              <a:rPr sz="1000" b="0" i="0">
                <a:solidFill>
                  <a:srgbClr val="5A4810"/>
                </a:solidFill>
              </a:rPr>
              <a:t>NVIDIA H100 · H200 · B200 (Blackwell)</a:t>
            </a:r>
          </a:p>
          <a:p>
            <a:pPr algn="ctr"/>
            <a:r>
              <a:rPr sz="1000" b="0" i="0">
                <a:solidFill>
                  <a:srgbClr val="5A4810"/>
                </a:solidFill>
              </a:rPr>
              <a:t>AMD MI300X · MI325X</a:t>
            </a:r>
          </a:p>
          <a:p>
            <a:pPr algn="ctr"/>
            <a:r>
              <a:rPr sz="1000" b="0" i="0">
                <a:solidFill>
                  <a:srgbClr val="5A4810"/>
                </a:solidFill>
              </a:rPr>
              <a:t>Google TPU v5p · TPU Trillium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66760" y="5394960"/>
            <a:ext cx="3474720" cy="1188720"/>
          </a:xfrm>
          <a:prstGeom prst="roundRect">
            <a:avLst/>
          </a:prstGeom>
          <a:solidFill>
            <a:srgbClr val="FFF2CC"/>
          </a:solidFill>
          <a:ln w="15875">
            <a:solidFill>
              <a:srgbClr val="B18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38100"/>
          <a:lstStyle/>
          <a:p>
            <a:pPr algn="ctr"/>
            <a:r>
              <a:rPr sz="1000" b="0" i="0">
                <a:solidFill>
                  <a:srgbClr val="5A4810"/>
                </a:solidFill>
              </a:rPr>
              <a:t>Edge and quantized hosts</a:t>
            </a:r>
          </a:p>
          <a:p>
            <a:pPr algn="ctr"/>
            <a:r>
              <a:rPr sz="1000" b="0" i="0">
                <a:solidFill>
                  <a:srgbClr val="5A4810"/>
                </a:solidFill>
              </a:rPr>
              <a:t>Apple Silicon (M3 Ultra unified mem.)</a:t>
            </a:r>
          </a:p>
          <a:p>
            <a:pPr algn="ctr"/>
            <a:r>
              <a:rPr sz="1000" b="0" i="0">
                <a:solidFill>
                  <a:srgbClr val="5A4810"/>
                </a:solidFill>
              </a:rPr>
              <a:t>ARM laptops (Snapdragon X)</a:t>
            </a:r>
          </a:p>
          <a:p>
            <a:pPr algn="ctr"/>
            <a:r>
              <a:rPr sz="1000" b="0" i="0">
                <a:solidFill>
                  <a:srgbClr val="5A4810"/>
                </a:solidFill>
              </a:rPr>
              <a:t>AWS Inferentia2 · Trainium2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583680"/>
            <a:ext cx="11430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1">
                <a:solidFill>
                  <a:srgbClr val="666666"/>
                </a:solidFill>
              </a:rPr>
              <a:t>FIGURE 23.1: A four-layer view of the LLM inference ecosystem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